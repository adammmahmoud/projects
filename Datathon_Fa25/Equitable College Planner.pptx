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  <p:sldMasterId id="214748371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Urbanist Medium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regular.fntdata"/><Relationship Id="rId30" Type="http://schemas.openxmlformats.org/officeDocument/2006/relationships/font" Target="fonts/UrbanistMedium-boldItalic.fntdata"/><Relationship Id="rId33" Type="http://schemas.openxmlformats.org/officeDocument/2006/relationships/font" Target="fonts/PoppinsLight-italic.fntdata"/><Relationship Id="rId32" Type="http://schemas.openxmlformats.org/officeDocument/2006/relationships/font" Target="fonts/PoppinsLight-bold.fntdata"/><Relationship Id="rId35" Type="http://schemas.openxmlformats.org/officeDocument/2006/relationships/font" Target="fonts/Urbanist-regular.fntdata"/><Relationship Id="rId34" Type="http://schemas.openxmlformats.org/officeDocument/2006/relationships/font" Target="fonts/PoppinsLight-boldItalic.fntdata"/><Relationship Id="rId37" Type="http://schemas.openxmlformats.org/officeDocument/2006/relationships/font" Target="fonts/Urbanist-italic.fntdata"/><Relationship Id="rId36" Type="http://schemas.openxmlformats.org/officeDocument/2006/relationships/font" Target="fonts/Urbanist-bold.fntdata"/><Relationship Id="rId39" Type="http://schemas.openxmlformats.org/officeDocument/2006/relationships/font" Target="fonts/PoppinsSemiBold-regular.fntdata"/><Relationship Id="rId38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UrbanistMedium-bold.fntdata"/><Relationship Id="rId27" Type="http://schemas.openxmlformats.org/officeDocument/2006/relationships/font" Target="fonts/UrbanistMedium-regular.fntdata"/><Relationship Id="rId29" Type="http://schemas.openxmlformats.org/officeDocument/2006/relationships/font" Target="fonts/Urbanist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99aa3880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99aa3880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99aa3880db_0_2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99aa3880db_0_2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99aa3880db_0_2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99aa3880db_0_2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99aa3880db_0_2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99aa3880db_0_2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99aa3880db_0_3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99aa3880db_0_3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99aa3880db_0_3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99aa3880db_0_3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99aa3880db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99aa3880db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99aa3880db_0_2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99aa3880db_0_2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99aa3880db_0_3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99aa3880db_0_3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99aa3880db_0_3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99aa3880db_0_3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99aa3880db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99aa3880db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99aa3880d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99aa3880d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99aa3880db_0_3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99aa3880db_0_3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99aa3880db_0_2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99aa3880db_0_2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99aa3880db_0_3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99aa3880db_0_3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99aa3880db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99aa3880db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236625" y="20054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Equitable College Planner</a:t>
            </a:r>
            <a:endParaRPr sz="4400"/>
          </a:p>
        </p:txBody>
      </p:sp>
      <p:sp>
        <p:nvSpPr>
          <p:cNvPr id="619" name="Google Shape;619;p66"/>
          <p:cNvSpPr txBox="1"/>
          <p:nvPr/>
        </p:nvSpPr>
        <p:spPr>
          <a:xfrm>
            <a:off x="3236625" y="2655575"/>
            <a:ext cx="562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Designed not to rank colleges by prestige, but to help students find institutions where they can thrive academically, financially, and personally.</a:t>
            </a:r>
            <a:endParaRPr i="1"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0" name="Google Shape;620;p66"/>
          <p:cNvSpPr txBox="1"/>
          <p:nvPr/>
        </p:nvSpPr>
        <p:spPr>
          <a:xfrm>
            <a:off x="6348450" y="3543875"/>
            <a:ext cx="2318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Adam Mahmoud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Peter Dickson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UC Berkeley Datathon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16 November 2025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7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01.</a:t>
            </a:r>
            <a:r>
              <a:rPr b="0" lang="en" sz="1400">
                <a:latin typeface="Poppins SemiBold"/>
                <a:ea typeface="Poppins SemiBold"/>
                <a:cs typeface="Poppins SemiBold"/>
                <a:sym typeface="Poppins SemiBold"/>
              </a:rPr>
              <a:t> Background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6" name="Google Shape;626;p67"/>
          <p:cNvSpPr txBox="1"/>
          <p:nvPr>
            <p:ph idx="2" type="subTitle"/>
          </p:nvPr>
        </p:nvSpPr>
        <p:spPr>
          <a:xfrm>
            <a:off x="3141600" y="3106675"/>
            <a:ext cx="28608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03. </a:t>
            </a:r>
            <a:r>
              <a:rPr b="0" lang="en" sz="1400">
                <a:latin typeface="Poppins SemiBold"/>
                <a:ea typeface="Poppins SemiBold"/>
                <a:cs typeface="Poppins SemiBold"/>
                <a:sym typeface="Poppins SemiBold"/>
              </a:rPr>
              <a:t>Website Walkthrough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7" name="Google Shape;627;p67"/>
          <p:cNvSpPr txBox="1"/>
          <p:nvPr>
            <p:ph idx="3" type="subTitle"/>
          </p:nvPr>
        </p:nvSpPr>
        <p:spPr>
          <a:xfrm>
            <a:off x="3236625" y="3814061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  <a:r>
              <a:rPr lang="en" sz="1400"/>
              <a:t> Data Critique</a:t>
            </a:r>
            <a:endParaRPr sz="1400"/>
          </a:p>
        </p:txBody>
      </p:sp>
      <p:sp>
        <p:nvSpPr>
          <p:cNvPr id="628" name="Google Shape;628;p67"/>
          <p:cNvSpPr txBox="1"/>
          <p:nvPr>
            <p:ph idx="4" type="subTitle"/>
          </p:nvPr>
        </p:nvSpPr>
        <p:spPr>
          <a:xfrm>
            <a:off x="6183150" y="1936750"/>
            <a:ext cx="25512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SemiBold"/>
                <a:ea typeface="Poppins SemiBold"/>
                <a:cs typeface="Poppins SemiBold"/>
                <a:sym typeface="Poppins SemiBold"/>
              </a:rPr>
              <a:t>02 Project Overview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9" name="Google Shape;629;p67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  <a:r>
              <a:rPr lang="en" sz="1400"/>
              <a:t> Methodology</a:t>
            </a:r>
            <a:endParaRPr sz="1400"/>
          </a:p>
        </p:txBody>
      </p:sp>
      <p:cxnSp>
        <p:nvCxnSpPr>
          <p:cNvPr id="630" name="Google Shape;630;p67"/>
          <p:cNvCxnSpPr/>
          <p:nvPr/>
        </p:nvCxnSpPr>
        <p:spPr>
          <a:xfrm rot="10800000">
            <a:off x="5724138" y="1921100"/>
            <a:ext cx="0" cy="2794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67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8"/>
          <p:cNvSpPr txBox="1"/>
          <p:nvPr>
            <p:ph idx="1" type="subTitle"/>
          </p:nvPr>
        </p:nvSpPr>
        <p:spPr>
          <a:xfrm>
            <a:off x="1316800" y="701563"/>
            <a:ext cx="7721400" cy="3824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ollege decisions are confusing: students face thousands of institutions and hundreds of variables (earnings, debt, net price, demographics, graduation outcomes).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High school counselors serve over 400+ students each → high-quality personalized guidance is rare.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Low-income students face higher barriers: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High net price after aid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Higher debt burdens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Higher childcare costs for student parents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Limited guidance resources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Existing tools (IPEDS, College Scorecard) are not personalized and often overwhelming.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37" name="Google Shape;637;p68"/>
          <p:cNvSpPr txBox="1"/>
          <p:nvPr/>
        </p:nvSpPr>
        <p:spPr>
          <a:xfrm>
            <a:off x="4665825" y="137424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38" name="Google Shape;638;p68"/>
          <p:cNvSpPr txBox="1"/>
          <p:nvPr/>
        </p:nvSpPr>
        <p:spPr>
          <a:xfrm>
            <a:off x="4665825" y="2912600"/>
            <a:ext cx="5226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39" name="Google Shape;639;p68"/>
          <p:cNvSpPr txBox="1"/>
          <p:nvPr>
            <p:ph type="title"/>
          </p:nvPr>
        </p:nvSpPr>
        <p:spPr>
          <a:xfrm>
            <a:off x="284700" y="205200"/>
            <a:ext cx="3085800" cy="539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9"/>
          <p:cNvSpPr txBox="1"/>
          <p:nvPr>
            <p:ph type="title"/>
          </p:nvPr>
        </p:nvSpPr>
        <p:spPr>
          <a:xfrm>
            <a:off x="425325" y="11726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Project Overview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0"/>
          <p:cNvSpPr txBox="1"/>
          <p:nvPr>
            <p:ph type="title"/>
          </p:nvPr>
        </p:nvSpPr>
        <p:spPr>
          <a:xfrm>
            <a:off x="425325" y="3434175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To Address these Problems, We Built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An interactive College Recommendation Platform powered by the Track 2 datasets.</a:t>
            </a:r>
            <a:br>
              <a:rPr b="1" lang="en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Provides personalized, data-driven, and equity-focused college recommendations.</a:t>
            </a:r>
            <a:br>
              <a:rPr b="1" lang="en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Designed to help students understand cost, debt, ROI, equity outcomes, and institutional fit.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1"/>
          <p:cNvSpPr txBox="1"/>
          <p:nvPr>
            <p:ph type="title"/>
          </p:nvPr>
        </p:nvSpPr>
        <p:spPr>
          <a:xfrm>
            <a:off x="334225" y="300600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How It Works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User enters preferences: state, residency, income, degree level, MSI preference, locality, enrollment size, competitiveness, and faculty ratio.</a:t>
            </a:r>
            <a:br>
              <a:rPr b="1" lang="en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Backend pipeline filters, merges, and scores institutions based on user-chosen weights.</a:t>
            </a:r>
            <a:br>
              <a:rPr b="1" lang="en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Logistic similarity function + ROI model generate final rankings.</a:t>
            </a:r>
            <a:endParaRPr sz="18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2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Walkthrough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3"/>
          <p:cNvSpPr txBox="1"/>
          <p:nvPr>
            <p:ph type="title"/>
          </p:nvPr>
        </p:nvSpPr>
        <p:spPr>
          <a:xfrm>
            <a:off x="2380800" y="2137962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Methodology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4"/>
          <p:cNvSpPr txBox="1"/>
          <p:nvPr>
            <p:ph idx="9" type="body"/>
          </p:nvPr>
        </p:nvSpPr>
        <p:spPr>
          <a:xfrm>
            <a:off x="211050" y="580650"/>
            <a:ext cx="8455800" cy="40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Data Sources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i="1" lang="en" sz="1800">
                <a:latin typeface="Arial"/>
                <a:ea typeface="Arial"/>
                <a:cs typeface="Arial"/>
                <a:sym typeface="Arial"/>
              </a:rPr>
              <a:t>College Results dataset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: earnings, graduation rates, admissions, retention, faculty ratio, etc.</a:t>
            </a:r>
            <a:br>
              <a:rPr b="1" lang="en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i="1" lang="en" sz="1800">
                <a:latin typeface="Arial"/>
                <a:ea typeface="Arial"/>
                <a:cs typeface="Arial"/>
                <a:sym typeface="Arial"/>
              </a:rPr>
              <a:t>Affordability Gap dataset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: net price, state minimum wage, childcare-adjusted work hours to close cost gap, MSI flags, institutional type, locality.</a:t>
            </a:r>
            <a:br>
              <a:rPr b="1" lang="en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Cleaned, normalized, and merged via DuckDB for speed.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5"/>
          <p:cNvSpPr txBox="1"/>
          <p:nvPr>
            <p:ph idx="9" type="body"/>
          </p:nvPr>
        </p:nvSpPr>
        <p:spPr>
          <a:xfrm>
            <a:off x="211050" y="347106"/>
            <a:ext cx="8455800" cy="40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Similarity-Based Matching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Filters schools first by accessibility — degree availability, residency rules, and family income bracket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Uses student-defined soft preferences (sector, campus setting, enrollment size, student-faculty ratio, acceptance rate, MSI status)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Numeric preferences scored using normalized distance to student’s target values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Categorical preferences scored using structured similarity matrices (not binary matches)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MSI handling designed to support identity and belonging while preserving choice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Final similarity score generated using a logistic scaling function — ranks relative fit, not "best school"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6"/>
          <p:cNvSpPr txBox="1"/>
          <p:nvPr>
            <p:ph idx="9" type="body"/>
          </p:nvPr>
        </p:nvSpPr>
        <p:spPr>
          <a:xfrm>
            <a:off x="211050" y="431700"/>
            <a:ext cx="8455800" cy="408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ROI-Based Financial Model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Computes cost based on residency: in-state, out-of-state, or net price fallback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Estimates completion time using graduation and retention rates (bounded to avoid extreme distortions)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Calculates expected earnings using federal median wage data + adjustment for institutional selectivity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Applies work-burden penalty to reflect hidden affordability barriers for lower-income students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Final ROI standardized so values are comparable across institutions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Designed to promote financial sustainability and transparency, not prestige-based outcomes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77" title="newplot (1).png"/>
          <p:cNvPicPr preferRelativeResize="0"/>
          <p:nvPr/>
        </p:nvPicPr>
        <p:blipFill rotWithShape="1">
          <a:blip r:embed="rId3">
            <a:alphaModFix/>
          </a:blip>
          <a:srcRect b="6489" l="0" r="0" t="5814"/>
          <a:stretch/>
        </p:blipFill>
        <p:spPr>
          <a:xfrm>
            <a:off x="922538" y="2696225"/>
            <a:ext cx="7298925" cy="225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77"/>
          <p:cNvSpPr txBox="1"/>
          <p:nvPr>
            <p:ph idx="9" type="body"/>
          </p:nvPr>
        </p:nvSpPr>
        <p:spPr>
          <a:xfrm>
            <a:off x="211050" y="66368"/>
            <a:ext cx="8455800" cy="2536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Principal Component Analysis Graph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Converts key quantitative attributes (enrollment size, admit rate, student-faculty ratio) into a 2D representation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Standardizes values first so no metric dominates due to scale differences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Student preferences are projected into the same space — visualizing personal alignment with the landscape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8"/>
          <p:cNvSpPr txBox="1"/>
          <p:nvPr>
            <p:ph type="title"/>
          </p:nvPr>
        </p:nvSpPr>
        <p:spPr>
          <a:xfrm>
            <a:off x="425325" y="11726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Data Critique</a:t>
            </a:r>
            <a:endParaRPr sz="5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Limited Columns</a:t>
            </a:r>
            <a:endParaRPr sz="3000"/>
          </a:p>
        </p:txBody>
      </p:sp>
      <p:sp>
        <p:nvSpPr>
          <p:cNvPr id="696" name="Google Shape;696;p79"/>
          <p:cNvSpPr txBox="1"/>
          <p:nvPr/>
        </p:nvSpPr>
        <p:spPr>
          <a:xfrm>
            <a:off x="284700" y="1427825"/>
            <a:ext cx="7885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 a team we limited ourselves to only choosing a small number of columns that we believed were important to calculate similarity scores and ROI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Drawbacks of this include potentially untested and missed information that could have bettered enabled us to give users more accurate and equitable results.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Due to time constraints we were unable to look at whether students who have dependents could have potentially different ROIs at certain colleges than regular students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Next Steps: Spend more time looking at more features and deciding what to include in our cleaned dataset.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0"/>
          <p:cNvSpPr txBox="1"/>
          <p:nvPr>
            <p:ph type="title"/>
          </p:nvPr>
        </p:nvSpPr>
        <p:spPr>
          <a:xfrm>
            <a:off x="283475" y="433725"/>
            <a:ext cx="74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High Amounts of Null Values in Features</a:t>
            </a:r>
            <a:endParaRPr sz="3000"/>
          </a:p>
        </p:txBody>
      </p:sp>
      <p:sp>
        <p:nvSpPr>
          <p:cNvPr id="702" name="Google Shape;702;p80"/>
          <p:cNvSpPr txBox="1"/>
          <p:nvPr/>
        </p:nvSpPr>
        <p:spPr>
          <a:xfrm>
            <a:off x="283475" y="1943850"/>
            <a:ext cx="7885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These datasets contained columns with high percentages of the values being null.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Factored in the amount of non-null data in decision to keep columns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potentially also affected ROI scores as colleges lacked the proper data for the ROI to be </a:t>
            </a: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calculated</a:t>
            </a: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Solution: keep as many colleges for people to choose from and leave -99.9 placeholder for Null ROI values, then order by similarity instead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1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